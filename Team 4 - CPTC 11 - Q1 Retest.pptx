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ucidity Condensed" charset="1" panose="00000600000000000000"/>
      <p:regular r:id="rId22"/>
    </p:embeddedFont>
    <p:embeddedFont>
      <p:font typeface="Sugo Display" charset="1" panose="02000506020000020004"/>
      <p:regular r:id="rId23"/>
    </p:embeddedFont>
    <p:embeddedFont>
      <p:font typeface="Fira Code Bold" charset="1" panose="020B0809050000020004"/>
      <p:regular r:id="rId24"/>
    </p:embeddedFont>
    <p:embeddedFont>
      <p:font typeface="Norwester" charset="1" panose="00000506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png" Type="http://schemas.openxmlformats.org/officeDocument/2006/relationships/image"/><Relationship Id="rId17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7.png" Type="http://schemas.openxmlformats.org/officeDocument/2006/relationships/image"/><Relationship Id="rId15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8.png" Type="http://schemas.openxmlformats.org/officeDocument/2006/relationships/image"/><Relationship Id="rId15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9.png" Type="http://schemas.openxmlformats.org/officeDocument/2006/relationships/image"/><Relationship Id="rId15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svg" Type="http://schemas.openxmlformats.org/officeDocument/2006/relationships/image"/><Relationship Id="rId12" Target="../media/image1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8872" y="1028700"/>
            <a:ext cx="8090256" cy="5378094"/>
          </a:xfrm>
          <a:custGeom>
            <a:avLst/>
            <a:gdLst/>
            <a:ahLst/>
            <a:cxnLst/>
            <a:rect r="r" b="b" t="t" l="l"/>
            <a:pathLst>
              <a:path h="5378094" w="8090256">
                <a:moveTo>
                  <a:pt x="0" y="0"/>
                </a:moveTo>
                <a:lnTo>
                  <a:pt x="8090256" y="0"/>
                </a:lnTo>
                <a:lnTo>
                  <a:pt x="8090256" y="5378094"/>
                </a:lnTo>
                <a:lnTo>
                  <a:pt x="0" y="5378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3906" y="7366289"/>
            <a:ext cx="13940187" cy="124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35"/>
              </a:lnSpc>
              <a:spcBef>
                <a:spcPct val="0"/>
              </a:spcBef>
            </a:pPr>
            <a:r>
              <a:rPr lang="en-US" sz="8451">
                <a:solidFill>
                  <a:srgbClr val="00BFC3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Q1 PENETRATION RETEST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35385">
            <a:off x="717021" y="1657209"/>
            <a:ext cx="2363501" cy="2605061"/>
          </a:xfrm>
          <a:custGeom>
            <a:avLst/>
            <a:gdLst/>
            <a:ahLst/>
            <a:cxnLst/>
            <a:rect r="r" b="b" t="t" l="l"/>
            <a:pathLst>
              <a:path h="2605061" w="2363501">
                <a:moveTo>
                  <a:pt x="0" y="0"/>
                </a:moveTo>
                <a:lnTo>
                  <a:pt x="2363501" y="0"/>
                </a:lnTo>
                <a:lnTo>
                  <a:pt x="2363501" y="2605061"/>
                </a:lnTo>
                <a:lnTo>
                  <a:pt x="0" y="2605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93451">
            <a:off x="11534890" y="6274021"/>
            <a:ext cx="1960745" cy="1008892"/>
          </a:xfrm>
          <a:custGeom>
            <a:avLst/>
            <a:gdLst/>
            <a:ahLst/>
            <a:cxnLst/>
            <a:rect r="r" b="b" t="t" l="l"/>
            <a:pathLst>
              <a:path h="1008892" w="1960745">
                <a:moveTo>
                  <a:pt x="0" y="0"/>
                </a:moveTo>
                <a:lnTo>
                  <a:pt x="1960745" y="0"/>
                </a:lnTo>
                <a:lnTo>
                  <a:pt x="1960745" y="1008893"/>
                </a:lnTo>
                <a:lnTo>
                  <a:pt x="0" y="1008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73816">
            <a:off x="14670194" y="1587650"/>
            <a:ext cx="1447730" cy="1402982"/>
          </a:xfrm>
          <a:custGeom>
            <a:avLst/>
            <a:gdLst/>
            <a:ahLst/>
            <a:cxnLst/>
            <a:rect r="r" b="b" t="t" l="l"/>
            <a:pathLst>
              <a:path h="1402982" w="1447730">
                <a:moveTo>
                  <a:pt x="1447729" y="0"/>
                </a:moveTo>
                <a:lnTo>
                  <a:pt x="0" y="0"/>
                </a:lnTo>
                <a:lnTo>
                  <a:pt x="0" y="1402982"/>
                </a:lnTo>
                <a:lnTo>
                  <a:pt x="1447729" y="1402982"/>
                </a:lnTo>
                <a:lnTo>
                  <a:pt x="144772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42031">
            <a:off x="1634361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4" y="0"/>
                </a:lnTo>
                <a:lnTo>
                  <a:pt x="1888514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4106" y="7929866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4197" y="1519129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29" y="0"/>
                </a:lnTo>
                <a:lnTo>
                  <a:pt x="2111829" y="1988959"/>
                </a:lnTo>
                <a:lnTo>
                  <a:pt x="0" y="1988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49706" y="2631562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7" y="0"/>
                </a:lnTo>
                <a:lnTo>
                  <a:pt x="2389507" y="2389508"/>
                </a:lnTo>
                <a:lnTo>
                  <a:pt x="0" y="2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OUR Team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949246" y="2513608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8" y="0"/>
                </a:lnTo>
                <a:lnTo>
                  <a:pt x="2389508" y="2389508"/>
                </a:lnTo>
                <a:lnTo>
                  <a:pt x="0" y="2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48787" y="2513608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7" y="0"/>
                </a:lnTo>
                <a:lnTo>
                  <a:pt x="2389507" y="2389508"/>
                </a:lnTo>
                <a:lnTo>
                  <a:pt x="0" y="2389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2050" y="6296477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8" y="0"/>
                </a:lnTo>
                <a:lnTo>
                  <a:pt x="2389508" y="2389507"/>
                </a:lnTo>
                <a:lnTo>
                  <a:pt x="0" y="2389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949246" y="6296477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8" y="0"/>
                </a:lnTo>
                <a:lnTo>
                  <a:pt x="2389508" y="2389507"/>
                </a:lnTo>
                <a:lnTo>
                  <a:pt x="0" y="2389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63921" y="6296477"/>
            <a:ext cx="2389507" cy="2389507"/>
          </a:xfrm>
          <a:custGeom>
            <a:avLst/>
            <a:gdLst/>
            <a:ahLst/>
            <a:cxnLst/>
            <a:rect r="r" b="b" t="t" l="l"/>
            <a:pathLst>
              <a:path h="2389507" w="2389507">
                <a:moveTo>
                  <a:pt x="0" y="0"/>
                </a:moveTo>
                <a:lnTo>
                  <a:pt x="2389507" y="0"/>
                </a:lnTo>
                <a:lnTo>
                  <a:pt x="2389507" y="2389507"/>
                </a:lnTo>
                <a:lnTo>
                  <a:pt x="0" y="2389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31137" y="5228223"/>
            <a:ext cx="36266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Lead/Captain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76901" y="5228223"/>
            <a:ext cx="29866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Member/Analyst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550199" y="5228223"/>
            <a:ext cx="29866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Member/Analyst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51118" y="8895534"/>
            <a:ext cx="29866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Member/Analyst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0659" y="8918731"/>
            <a:ext cx="29866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Member/Analyst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80316" y="8918731"/>
            <a:ext cx="298668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Member/Analyst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Agenda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567931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6"/>
                </a:lnTo>
                <a:lnTo>
                  <a:pt x="0" y="1925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8982" y="3627009"/>
            <a:ext cx="1455689" cy="1607689"/>
          </a:xfrm>
          <a:custGeom>
            <a:avLst/>
            <a:gdLst/>
            <a:ahLst/>
            <a:cxnLst/>
            <a:rect r="r" b="b" t="t" l="l"/>
            <a:pathLst>
              <a:path h="1607689" w="1455689">
                <a:moveTo>
                  <a:pt x="0" y="0"/>
                </a:moveTo>
                <a:lnTo>
                  <a:pt x="1455689" y="0"/>
                </a:lnTo>
                <a:lnTo>
                  <a:pt x="1455689" y="1607689"/>
                </a:lnTo>
                <a:lnTo>
                  <a:pt x="0" y="1607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42547" y="2376284"/>
            <a:ext cx="7083783" cy="1729863"/>
            <a:chOff x="0" y="0"/>
            <a:chExt cx="1107556" cy="2704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Methodology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61670" y="2376284"/>
            <a:ext cx="7083783" cy="1729863"/>
            <a:chOff x="0" y="0"/>
            <a:chExt cx="1107556" cy="270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Engagement Highlights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02109" y="7946696"/>
            <a:ext cx="7083783" cy="1729863"/>
            <a:chOff x="0" y="0"/>
            <a:chExt cx="1107556" cy="2704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Recommendation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423997" y="1638049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29" y="0"/>
                </a:lnTo>
                <a:lnTo>
                  <a:pt x="2111829" y="1988960"/>
                </a:lnTo>
                <a:lnTo>
                  <a:pt x="0" y="1988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42547" y="5058119"/>
            <a:ext cx="7083783" cy="1936077"/>
            <a:chOff x="0" y="0"/>
            <a:chExt cx="1107556" cy="3027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Business Impact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61670" y="5058119"/>
            <a:ext cx="7083783" cy="1936077"/>
            <a:chOff x="0" y="0"/>
            <a:chExt cx="1107556" cy="3027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Key Strenghts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8730739"/>
            <a:ext cx="4810881" cy="2475417"/>
          </a:xfrm>
          <a:custGeom>
            <a:avLst/>
            <a:gdLst/>
            <a:ahLst/>
            <a:cxnLst/>
            <a:rect r="r" b="b" t="t" l="l"/>
            <a:pathLst>
              <a:path h="2475417" w="4810881">
                <a:moveTo>
                  <a:pt x="0" y="0"/>
                </a:moveTo>
                <a:lnTo>
                  <a:pt x="4810881" y="0"/>
                </a:lnTo>
                <a:lnTo>
                  <a:pt x="4810881" y="2475417"/>
                </a:lnTo>
                <a:lnTo>
                  <a:pt x="0" y="24754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5899920" y="4987101"/>
            <a:ext cx="2428357" cy="2681920"/>
          </a:xfrm>
          <a:custGeom>
            <a:avLst/>
            <a:gdLst/>
            <a:ahLst/>
            <a:cxnLst/>
            <a:rect r="r" b="b" t="t" l="l"/>
            <a:pathLst>
              <a:path h="2681920" w="2428357">
                <a:moveTo>
                  <a:pt x="0" y="0"/>
                </a:moveTo>
                <a:lnTo>
                  <a:pt x="2428357" y="0"/>
                </a:lnTo>
                <a:lnTo>
                  <a:pt x="2428357" y="2681920"/>
                </a:lnTo>
                <a:lnTo>
                  <a:pt x="0" y="26819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169218" y="2564143"/>
            <a:ext cx="2015220" cy="3744497"/>
          </a:xfrm>
          <a:custGeom>
            <a:avLst/>
            <a:gdLst/>
            <a:ahLst/>
            <a:cxnLst/>
            <a:rect r="r" b="b" t="t" l="l"/>
            <a:pathLst>
              <a:path h="3744497" w="2015220">
                <a:moveTo>
                  <a:pt x="0" y="0"/>
                </a:moveTo>
                <a:lnTo>
                  <a:pt x="2015220" y="0"/>
                </a:lnTo>
                <a:lnTo>
                  <a:pt x="2015220" y="3744497"/>
                </a:lnTo>
                <a:lnTo>
                  <a:pt x="0" y="3744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57339" y="1356715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Assessment Methodology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21640">
            <a:off x="1405861" y="7535617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179682" y="3539511"/>
            <a:ext cx="4260806" cy="1535302"/>
            <a:chOff x="0" y="0"/>
            <a:chExt cx="1812782" cy="6532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12782" cy="653202"/>
            </a:xfrm>
            <a:custGeom>
              <a:avLst/>
              <a:gdLst/>
              <a:ahLst/>
              <a:cxnLst/>
              <a:rect r="r" b="b" t="t" l="l"/>
              <a:pathLst>
                <a:path h="653202" w="1812782">
                  <a:moveTo>
                    <a:pt x="0" y="0"/>
                  </a:moveTo>
                  <a:lnTo>
                    <a:pt x="1812782" y="0"/>
                  </a:lnTo>
                  <a:lnTo>
                    <a:pt x="1812782" y="653202"/>
                  </a:lnTo>
                  <a:lnTo>
                    <a:pt x="0" y="653202"/>
                  </a:lnTo>
                  <a:close/>
                </a:path>
              </a:pathLst>
            </a:custGeom>
            <a:solidFill>
              <a:srgbClr val="E7459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12782" cy="69130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Assessing the vulnerability based on impact and potential risk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20493" y="3508511"/>
            <a:ext cx="4433240" cy="1597304"/>
            <a:chOff x="0" y="0"/>
            <a:chExt cx="1886145" cy="6795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6145" cy="679581"/>
            </a:xfrm>
            <a:custGeom>
              <a:avLst/>
              <a:gdLst/>
              <a:ahLst/>
              <a:cxnLst/>
              <a:rect r="r" b="b" t="t" l="l"/>
              <a:pathLst>
                <a:path h="679581" w="1886145">
                  <a:moveTo>
                    <a:pt x="0" y="0"/>
                  </a:moveTo>
                  <a:lnTo>
                    <a:pt x="1886145" y="0"/>
                  </a:lnTo>
                  <a:lnTo>
                    <a:pt x="1886145" y="679581"/>
                  </a:lnTo>
                  <a:lnTo>
                    <a:pt x="0" y="679581"/>
                  </a:lnTo>
                  <a:close/>
                </a:path>
              </a:pathLst>
            </a:custGeom>
            <a:solidFill>
              <a:srgbClr val="3FBE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886145" cy="7272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Focusing on who and how someone would have access to that vulnerability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440488" y="4307163"/>
            <a:ext cx="680005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2276363" y="3508511"/>
            <a:ext cx="4539652" cy="1597304"/>
            <a:chOff x="0" y="0"/>
            <a:chExt cx="1931419" cy="6795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419" cy="679581"/>
            </a:xfrm>
            <a:custGeom>
              <a:avLst/>
              <a:gdLst/>
              <a:ahLst/>
              <a:cxnLst/>
              <a:rect r="r" b="b" t="t" l="l"/>
              <a:pathLst>
                <a:path h="679581" w="1931419">
                  <a:moveTo>
                    <a:pt x="0" y="0"/>
                  </a:moveTo>
                  <a:lnTo>
                    <a:pt x="1931419" y="0"/>
                  </a:lnTo>
                  <a:lnTo>
                    <a:pt x="1931419" y="679581"/>
                  </a:lnTo>
                  <a:lnTo>
                    <a:pt x="0" y="679581"/>
                  </a:lnTo>
                  <a:close/>
                </a:path>
              </a:pathLst>
            </a:custGeom>
            <a:solidFill>
              <a:srgbClr val="FFF50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31419" cy="72720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Focusing on how many steps it takes to put the normal user at risk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553733" y="4307163"/>
            <a:ext cx="722631" cy="0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1489748" y="6632207"/>
            <a:ext cx="6112884" cy="1762475"/>
            <a:chOff x="0" y="0"/>
            <a:chExt cx="2600759" cy="7498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00759" cy="749854"/>
            </a:xfrm>
            <a:custGeom>
              <a:avLst/>
              <a:gdLst/>
              <a:ahLst/>
              <a:cxnLst/>
              <a:rect r="r" b="b" t="t" l="l"/>
              <a:pathLst>
                <a:path h="749854" w="2600759">
                  <a:moveTo>
                    <a:pt x="0" y="0"/>
                  </a:moveTo>
                  <a:lnTo>
                    <a:pt x="2600759" y="0"/>
                  </a:lnTo>
                  <a:lnTo>
                    <a:pt x="2600759" y="749854"/>
                  </a:lnTo>
                  <a:lnTo>
                    <a:pt x="0" y="749854"/>
                  </a:lnTo>
                  <a:close/>
                </a:path>
              </a:pathLst>
            </a:custGeom>
            <a:solidFill>
              <a:srgbClr val="3FBEF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600759" cy="79747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Focuses on how that vulnerability would impact business process and operations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4546190" y="5105814"/>
            <a:ext cx="0" cy="1526392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5210078" y="6758402"/>
            <a:ext cx="4260806" cy="1535302"/>
            <a:chOff x="0" y="0"/>
            <a:chExt cx="1812782" cy="6532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12782" cy="653202"/>
            </a:xfrm>
            <a:custGeom>
              <a:avLst/>
              <a:gdLst/>
              <a:ahLst/>
              <a:cxnLst/>
              <a:rect r="r" b="b" t="t" l="l"/>
              <a:pathLst>
                <a:path h="653202" w="1812782">
                  <a:moveTo>
                    <a:pt x="0" y="0"/>
                  </a:moveTo>
                  <a:lnTo>
                    <a:pt x="1812782" y="0"/>
                  </a:lnTo>
                  <a:lnTo>
                    <a:pt x="1812782" y="653202"/>
                  </a:lnTo>
                  <a:lnTo>
                    <a:pt x="0" y="653202"/>
                  </a:lnTo>
                  <a:close/>
                </a:path>
              </a:pathLst>
            </a:custGeom>
            <a:solidFill>
              <a:srgbClr val="E7459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812782" cy="69130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2799"/>
                </a:lnSpc>
              </a:pPr>
              <a:r>
                <a:rPr lang="en-US" b="true" sz="1999">
                  <a:solidFill>
                    <a:srgbClr val="FFFFFF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Focuses on how and what it takes to fix the weakness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9470884" y="7513444"/>
            <a:ext cx="2018864" cy="12609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8" id="28"/>
          <p:cNvSpPr txBox="true"/>
          <p:nvPr/>
        </p:nvSpPr>
        <p:spPr>
          <a:xfrm rot="0">
            <a:off x="3328072" y="2877802"/>
            <a:ext cx="1964027" cy="5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Severity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38137" y="2877802"/>
            <a:ext cx="4415596" cy="5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Degree Of Exposure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6294" y="2877802"/>
            <a:ext cx="4884138" cy="5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Ease of Exploitation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18793" y="8366793"/>
            <a:ext cx="3799140" cy="5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Business Impact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83047" y="8366793"/>
            <a:ext cx="3714868" cy="52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7"/>
              </a:lnSpc>
            </a:pPr>
            <a:r>
              <a:rPr lang="en-US" sz="3155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Effort To Fix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9101584"/>
            <a:ext cx="4090158" cy="2104572"/>
          </a:xfrm>
          <a:custGeom>
            <a:avLst/>
            <a:gdLst/>
            <a:ahLst/>
            <a:cxnLst/>
            <a:rect r="r" b="b" t="t" l="l"/>
            <a:pathLst>
              <a:path h="2104572" w="4090158">
                <a:moveTo>
                  <a:pt x="0" y="0"/>
                </a:moveTo>
                <a:lnTo>
                  <a:pt x="4090158" y="0"/>
                </a:lnTo>
                <a:lnTo>
                  <a:pt x="4090158" y="2104572"/>
                </a:lnTo>
                <a:lnTo>
                  <a:pt x="0" y="210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6497194" y="4902490"/>
            <a:ext cx="1706095" cy="1884242"/>
          </a:xfrm>
          <a:custGeom>
            <a:avLst/>
            <a:gdLst/>
            <a:ahLst/>
            <a:cxnLst/>
            <a:rect r="r" b="b" t="t" l="l"/>
            <a:pathLst>
              <a:path h="1884242" w="1706095">
                <a:moveTo>
                  <a:pt x="0" y="0"/>
                </a:moveTo>
                <a:lnTo>
                  <a:pt x="1706095" y="0"/>
                </a:lnTo>
                <a:lnTo>
                  <a:pt x="1706095" y="1884241"/>
                </a:lnTo>
                <a:lnTo>
                  <a:pt x="0" y="1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77359" y="2630478"/>
            <a:ext cx="1606331" cy="2984737"/>
          </a:xfrm>
          <a:custGeom>
            <a:avLst/>
            <a:gdLst/>
            <a:ahLst/>
            <a:cxnLst/>
            <a:rect r="r" b="b" t="t" l="l"/>
            <a:pathLst>
              <a:path h="2984737" w="1606331">
                <a:moveTo>
                  <a:pt x="0" y="0"/>
                </a:moveTo>
                <a:lnTo>
                  <a:pt x="1606331" y="0"/>
                </a:lnTo>
                <a:lnTo>
                  <a:pt x="1606331" y="2984736"/>
                </a:lnTo>
                <a:lnTo>
                  <a:pt x="0" y="298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640">
            <a:off x="1413270" y="7954378"/>
            <a:ext cx="846950" cy="1415874"/>
          </a:xfrm>
          <a:custGeom>
            <a:avLst/>
            <a:gdLst/>
            <a:ahLst/>
            <a:cxnLst/>
            <a:rect r="r" b="b" t="t" l="l"/>
            <a:pathLst>
              <a:path h="1415874" w="846950">
                <a:moveTo>
                  <a:pt x="0" y="0"/>
                </a:moveTo>
                <a:lnTo>
                  <a:pt x="846951" y="0"/>
                </a:lnTo>
                <a:lnTo>
                  <a:pt x="846951" y="1415875"/>
                </a:lnTo>
                <a:lnTo>
                  <a:pt x="0" y="141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11886" y="3902451"/>
            <a:ext cx="2675919" cy="2675919"/>
          </a:xfrm>
          <a:custGeom>
            <a:avLst/>
            <a:gdLst/>
            <a:ahLst/>
            <a:cxnLst/>
            <a:rect r="r" b="b" t="t" l="l"/>
            <a:pathLst>
              <a:path h="2675919" w="2675919">
                <a:moveTo>
                  <a:pt x="0" y="0"/>
                </a:moveTo>
                <a:lnTo>
                  <a:pt x="2675919" y="0"/>
                </a:lnTo>
                <a:lnTo>
                  <a:pt x="2675919" y="2675919"/>
                </a:lnTo>
                <a:lnTo>
                  <a:pt x="0" y="267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01570" y="3902451"/>
            <a:ext cx="2675919" cy="2675919"/>
          </a:xfrm>
          <a:custGeom>
            <a:avLst/>
            <a:gdLst/>
            <a:ahLst/>
            <a:cxnLst/>
            <a:rect r="r" b="b" t="t" l="l"/>
            <a:pathLst>
              <a:path h="2675919" w="2675919">
                <a:moveTo>
                  <a:pt x="0" y="0"/>
                </a:moveTo>
                <a:lnTo>
                  <a:pt x="2675920" y="0"/>
                </a:lnTo>
                <a:lnTo>
                  <a:pt x="2675920" y="2675919"/>
                </a:lnTo>
                <a:lnTo>
                  <a:pt x="0" y="267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91255" y="3902451"/>
            <a:ext cx="2675919" cy="2675919"/>
          </a:xfrm>
          <a:custGeom>
            <a:avLst/>
            <a:gdLst/>
            <a:ahLst/>
            <a:cxnLst/>
            <a:rect r="r" b="b" t="t" l="l"/>
            <a:pathLst>
              <a:path h="2675919" w="2675919">
                <a:moveTo>
                  <a:pt x="0" y="0"/>
                </a:moveTo>
                <a:lnTo>
                  <a:pt x="2675919" y="0"/>
                </a:lnTo>
                <a:lnTo>
                  <a:pt x="2675919" y="2675919"/>
                </a:lnTo>
                <a:lnTo>
                  <a:pt x="0" y="267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68436" y="1667208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Assessment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63881" y="6969247"/>
            <a:ext cx="3171929" cy="67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3946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Simulation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43250" y="6969247"/>
            <a:ext cx="3171929" cy="67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3946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53565" y="6969247"/>
            <a:ext cx="3395017" cy="67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4"/>
              </a:lnSpc>
            </a:pPr>
            <a:r>
              <a:rPr lang="en-US" sz="3946" b="true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Development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Highlights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5708" y="7479441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35936" y="3090032"/>
            <a:ext cx="1455689" cy="1607689"/>
          </a:xfrm>
          <a:custGeom>
            <a:avLst/>
            <a:gdLst/>
            <a:ahLst/>
            <a:cxnLst/>
            <a:rect r="r" b="b" t="t" l="l"/>
            <a:pathLst>
              <a:path h="1607689" w="1455689">
                <a:moveTo>
                  <a:pt x="0" y="0"/>
                </a:moveTo>
                <a:lnTo>
                  <a:pt x="1455689" y="0"/>
                </a:lnTo>
                <a:lnTo>
                  <a:pt x="1455689" y="1607690"/>
                </a:lnTo>
                <a:lnTo>
                  <a:pt x="0" y="16076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09040" y="2376284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59"/>
                </a:lnTo>
                <a:lnTo>
                  <a:pt x="0" y="19889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39518" y="3866581"/>
            <a:ext cx="6807037" cy="1662282"/>
            <a:chOff x="0" y="0"/>
            <a:chExt cx="1107556" cy="270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Hosts Vulnerable - 5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40482" y="6962834"/>
            <a:ext cx="6807037" cy="1662282"/>
            <a:chOff x="0" y="0"/>
            <a:chExt cx="1107556" cy="270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Remediated Vulnerabilities - 9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62678" y="3866581"/>
            <a:ext cx="6807037" cy="1662282"/>
            <a:chOff x="0" y="0"/>
            <a:chExt cx="1107556" cy="270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Catastrophical Risks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5708" y="7479441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09040" y="2376284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59"/>
                </a:lnTo>
                <a:lnTo>
                  <a:pt x="0" y="1988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96453" y="3288705"/>
            <a:ext cx="3709591" cy="3709591"/>
          </a:xfrm>
          <a:custGeom>
            <a:avLst/>
            <a:gdLst/>
            <a:ahLst/>
            <a:cxnLst/>
            <a:rect r="r" b="b" t="t" l="l"/>
            <a:pathLst>
              <a:path h="3709591" w="3709591">
                <a:moveTo>
                  <a:pt x="0" y="0"/>
                </a:moveTo>
                <a:lnTo>
                  <a:pt x="3709591" y="0"/>
                </a:lnTo>
                <a:lnTo>
                  <a:pt x="3709591" y="3709590"/>
                </a:lnTo>
                <a:lnTo>
                  <a:pt x="0" y="37095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Business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5435" y="4677092"/>
            <a:ext cx="5600343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Reputation Loss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5708" y="7479441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09040" y="2376284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59"/>
                </a:lnTo>
                <a:lnTo>
                  <a:pt x="0" y="1988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32331" y="2636732"/>
            <a:ext cx="5013537" cy="5013537"/>
          </a:xfrm>
          <a:custGeom>
            <a:avLst/>
            <a:gdLst/>
            <a:ahLst/>
            <a:cxnLst/>
            <a:rect r="r" b="b" t="t" l="l"/>
            <a:pathLst>
              <a:path h="5013537" w="5013537">
                <a:moveTo>
                  <a:pt x="0" y="0"/>
                </a:moveTo>
                <a:lnTo>
                  <a:pt x="5013536" y="0"/>
                </a:lnTo>
                <a:lnTo>
                  <a:pt x="5013536" y="5013536"/>
                </a:lnTo>
                <a:lnTo>
                  <a:pt x="0" y="50135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Business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45867" y="4677092"/>
            <a:ext cx="9707166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Remediated vulnerabilities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9033" y="7565166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09040" y="2376284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59"/>
                </a:lnTo>
                <a:lnTo>
                  <a:pt x="0" y="19889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58688" y="2873904"/>
            <a:ext cx="4539192" cy="4539192"/>
          </a:xfrm>
          <a:custGeom>
            <a:avLst/>
            <a:gdLst/>
            <a:ahLst/>
            <a:cxnLst/>
            <a:rect r="r" b="b" t="t" l="l"/>
            <a:pathLst>
              <a:path h="4539192" w="4539192">
                <a:moveTo>
                  <a:pt x="0" y="0"/>
                </a:moveTo>
                <a:lnTo>
                  <a:pt x="4539192" y="0"/>
                </a:lnTo>
                <a:lnTo>
                  <a:pt x="4539192" y="4539192"/>
                </a:lnTo>
                <a:lnTo>
                  <a:pt x="0" y="45391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Business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82077" y="4677092"/>
            <a:ext cx="5226963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Financial Loss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9101584"/>
            <a:ext cx="4090158" cy="2104572"/>
          </a:xfrm>
          <a:custGeom>
            <a:avLst/>
            <a:gdLst/>
            <a:ahLst/>
            <a:cxnLst/>
            <a:rect r="r" b="b" t="t" l="l"/>
            <a:pathLst>
              <a:path h="2104572" w="4090158">
                <a:moveTo>
                  <a:pt x="0" y="0"/>
                </a:moveTo>
                <a:lnTo>
                  <a:pt x="4090158" y="0"/>
                </a:lnTo>
                <a:lnTo>
                  <a:pt x="4090158" y="2104572"/>
                </a:lnTo>
                <a:lnTo>
                  <a:pt x="0" y="210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6497194" y="4902490"/>
            <a:ext cx="1706095" cy="1884242"/>
          </a:xfrm>
          <a:custGeom>
            <a:avLst/>
            <a:gdLst/>
            <a:ahLst/>
            <a:cxnLst/>
            <a:rect r="r" b="b" t="t" l="l"/>
            <a:pathLst>
              <a:path h="1884242" w="1706095">
                <a:moveTo>
                  <a:pt x="0" y="0"/>
                </a:moveTo>
                <a:lnTo>
                  <a:pt x="1706095" y="0"/>
                </a:lnTo>
                <a:lnTo>
                  <a:pt x="1706095" y="1884241"/>
                </a:lnTo>
                <a:lnTo>
                  <a:pt x="0" y="1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77359" y="2630478"/>
            <a:ext cx="1606331" cy="2984737"/>
          </a:xfrm>
          <a:custGeom>
            <a:avLst/>
            <a:gdLst/>
            <a:ahLst/>
            <a:cxnLst/>
            <a:rect r="r" b="b" t="t" l="l"/>
            <a:pathLst>
              <a:path h="2984737" w="1606331">
                <a:moveTo>
                  <a:pt x="0" y="0"/>
                </a:moveTo>
                <a:lnTo>
                  <a:pt x="1606331" y="0"/>
                </a:lnTo>
                <a:lnTo>
                  <a:pt x="1606331" y="2984736"/>
                </a:lnTo>
                <a:lnTo>
                  <a:pt x="0" y="298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640">
            <a:off x="1413270" y="7954378"/>
            <a:ext cx="846950" cy="1415874"/>
          </a:xfrm>
          <a:custGeom>
            <a:avLst/>
            <a:gdLst/>
            <a:ahLst/>
            <a:cxnLst/>
            <a:rect r="r" b="b" t="t" l="l"/>
            <a:pathLst>
              <a:path h="1415874" w="846950">
                <a:moveTo>
                  <a:pt x="0" y="0"/>
                </a:moveTo>
                <a:lnTo>
                  <a:pt x="846951" y="0"/>
                </a:lnTo>
                <a:lnTo>
                  <a:pt x="846951" y="1415875"/>
                </a:lnTo>
                <a:lnTo>
                  <a:pt x="0" y="141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91655" y="3703505"/>
            <a:ext cx="3676407" cy="3676407"/>
          </a:xfrm>
          <a:custGeom>
            <a:avLst/>
            <a:gdLst/>
            <a:ahLst/>
            <a:cxnLst/>
            <a:rect r="r" b="b" t="t" l="l"/>
            <a:pathLst>
              <a:path h="3676407" w="3676407">
                <a:moveTo>
                  <a:pt x="0" y="0"/>
                </a:moveTo>
                <a:lnTo>
                  <a:pt x="3676406" y="0"/>
                </a:lnTo>
                <a:lnTo>
                  <a:pt x="3676406" y="3676407"/>
                </a:lnTo>
                <a:lnTo>
                  <a:pt x="0" y="36764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8436" y="1667208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Key Stengths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68061" y="4641913"/>
            <a:ext cx="9428284" cy="257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Robust Data Leakage Monitoring</a:t>
            </a:r>
          </a:p>
          <a:p>
            <a:pPr algn="ctr">
              <a:lnSpc>
                <a:spcPts val="685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9101584"/>
            <a:ext cx="4090158" cy="2104572"/>
          </a:xfrm>
          <a:custGeom>
            <a:avLst/>
            <a:gdLst/>
            <a:ahLst/>
            <a:cxnLst/>
            <a:rect r="r" b="b" t="t" l="l"/>
            <a:pathLst>
              <a:path h="2104572" w="4090158">
                <a:moveTo>
                  <a:pt x="0" y="0"/>
                </a:moveTo>
                <a:lnTo>
                  <a:pt x="4090158" y="0"/>
                </a:lnTo>
                <a:lnTo>
                  <a:pt x="4090158" y="2104572"/>
                </a:lnTo>
                <a:lnTo>
                  <a:pt x="0" y="210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6497194" y="4902490"/>
            <a:ext cx="1706095" cy="1884242"/>
          </a:xfrm>
          <a:custGeom>
            <a:avLst/>
            <a:gdLst/>
            <a:ahLst/>
            <a:cxnLst/>
            <a:rect r="r" b="b" t="t" l="l"/>
            <a:pathLst>
              <a:path h="1884242" w="1706095">
                <a:moveTo>
                  <a:pt x="0" y="0"/>
                </a:moveTo>
                <a:lnTo>
                  <a:pt x="1706095" y="0"/>
                </a:lnTo>
                <a:lnTo>
                  <a:pt x="1706095" y="1884241"/>
                </a:lnTo>
                <a:lnTo>
                  <a:pt x="0" y="1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77359" y="2630478"/>
            <a:ext cx="1606331" cy="2984737"/>
          </a:xfrm>
          <a:custGeom>
            <a:avLst/>
            <a:gdLst/>
            <a:ahLst/>
            <a:cxnLst/>
            <a:rect r="r" b="b" t="t" l="l"/>
            <a:pathLst>
              <a:path h="2984737" w="1606331">
                <a:moveTo>
                  <a:pt x="0" y="0"/>
                </a:moveTo>
                <a:lnTo>
                  <a:pt x="1606331" y="0"/>
                </a:lnTo>
                <a:lnTo>
                  <a:pt x="1606331" y="2984736"/>
                </a:lnTo>
                <a:lnTo>
                  <a:pt x="0" y="298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640">
            <a:off x="1413270" y="7954378"/>
            <a:ext cx="846950" cy="1415874"/>
          </a:xfrm>
          <a:custGeom>
            <a:avLst/>
            <a:gdLst/>
            <a:ahLst/>
            <a:cxnLst/>
            <a:rect r="r" b="b" t="t" l="l"/>
            <a:pathLst>
              <a:path h="1415874" w="846950">
                <a:moveTo>
                  <a:pt x="0" y="0"/>
                </a:moveTo>
                <a:lnTo>
                  <a:pt x="846951" y="0"/>
                </a:lnTo>
                <a:lnTo>
                  <a:pt x="846951" y="1415875"/>
                </a:lnTo>
                <a:lnTo>
                  <a:pt x="0" y="141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63441" y="3482881"/>
            <a:ext cx="4196290" cy="4196290"/>
          </a:xfrm>
          <a:custGeom>
            <a:avLst/>
            <a:gdLst/>
            <a:ahLst/>
            <a:cxnLst/>
            <a:rect r="r" b="b" t="t" l="l"/>
            <a:pathLst>
              <a:path h="4196290" w="4196290">
                <a:moveTo>
                  <a:pt x="0" y="0"/>
                </a:moveTo>
                <a:lnTo>
                  <a:pt x="4196290" y="0"/>
                </a:lnTo>
                <a:lnTo>
                  <a:pt x="4196290" y="4196290"/>
                </a:lnTo>
                <a:lnTo>
                  <a:pt x="0" y="41962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68436" y="1667208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Key Stengths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37757" y="4743461"/>
            <a:ext cx="2986802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Patching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9101584"/>
            <a:ext cx="4090158" cy="2104572"/>
          </a:xfrm>
          <a:custGeom>
            <a:avLst/>
            <a:gdLst/>
            <a:ahLst/>
            <a:cxnLst/>
            <a:rect r="r" b="b" t="t" l="l"/>
            <a:pathLst>
              <a:path h="2104572" w="4090158">
                <a:moveTo>
                  <a:pt x="0" y="0"/>
                </a:moveTo>
                <a:lnTo>
                  <a:pt x="4090158" y="0"/>
                </a:lnTo>
                <a:lnTo>
                  <a:pt x="4090158" y="2104572"/>
                </a:lnTo>
                <a:lnTo>
                  <a:pt x="0" y="210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6497194" y="4902490"/>
            <a:ext cx="1706095" cy="1884242"/>
          </a:xfrm>
          <a:custGeom>
            <a:avLst/>
            <a:gdLst/>
            <a:ahLst/>
            <a:cxnLst/>
            <a:rect r="r" b="b" t="t" l="l"/>
            <a:pathLst>
              <a:path h="1884242" w="1706095">
                <a:moveTo>
                  <a:pt x="0" y="0"/>
                </a:moveTo>
                <a:lnTo>
                  <a:pt x="1706095" y="0"/>
                </a:lnTo>
                <a:lnTo>
                  <a:pt x="1706095" y="1884241"/>
                </a:lnTo>
                <a:lnTo>
                  <a:pt x="0" y="1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77359" y="2630478"/>
            <a:ext cx="1606331" cy="2984737"/>
          </a:xfrm>
          <a:custGeom>
            <a:avLst/>
            <a:gdLst/>
            <a:ahLst/>
            <a:cxnLst/>
            <a:rect r="r" b="b" t="t" l="l"/>
            <a:pathLst>
              <a:path h="2984737" w="1606331">
                <a:moveTo>
                  <a:pt x="0" y="0"/>
                </a:moveTo>
                <a:lnTo>
                  <a:pt x="1606331" y="0"/>
                </a:lnTo>
                <a:lnTo>
                  <a:pt x="1606331" y="2984736"/>
                </a:lnTo>
                <a:lnTo>
                  <a:pt x="0" y="298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640">
            <a:off x="1413270" y="7954378"/>
            <a:ext cx="846950" cy="1415874"/>
          </a:xfrm>
          <a:custGeom>
            <a:avLst/>
            <a:gdLst/>
            <a:ahLst/>
            <a:cxnLst/>
            <a:rect r="r" b="b" t="t" l="l"/>
            <a:pathLst>
              <a:path h="1415874" w="846950">
                <a:moveTo>
                  <a:pt x="0" y="0"/>
                </a:moveTo>
                <a:lnTo>
                  <a:pt x="846951" y="0"/>
                </a:lnTo>
                <a:lnTo>
                  <a:pt x="846951" y="1415875"/>
                </a:lnTo>
                <a:lnTo>
                  <a:pt x="0" y="141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68436" y="1667208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Key Stengths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85931" y="4677092"/>
            <a:ext cx="2613541" cy="83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Support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952206" y="3117583"/>
            <a:ext cx="4506008" cy="4506008"/>
          </a:xfrm>
          <a:custGeom>
            <a:avLst/>
            <a:gdLst/>
            <a:ahLst/>
            <a:cxnLst/>
            <a:rect r="r" b="b" t="t" l="l"/>
            <a:pathLst>
              <a:path h="4506008" w="4506008">
                <a:moveTo>
                  <a:pt x="0" y="0"/>
                </a:moveTo>
                <a:lnTo>
                  <a:pt x="4506008" y="0"/>
                </a:lnTo>
                <a:lnTo>
                  <a:pt x="4506008" y="4506007"/>
                </a:lnTo>
                <a:lnTo>
                  <a:pt x="0" y="450600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11597" y="-4011597"/>
            <a:ext cx="10287000" cy="18310194"/>
          </a:xfrm>
          <a:custGeom>
            <a:avLst/>
            <a:gdLst/>
            <a:ahLst/>
            <a:cxnLst/>
            <a:rect r="r" b="b" t="t" l="l"/>
            <a:pathLst>
              <a:path h="18310194" w="10287000">
                <a:moveTo>
                  <a:pt x="0" y="0"/>
                </a:moveTo>
                <a:lnTo>
                  <a:pt x="10287000" y="0"/>
                </a:lnTo>
                <a:lnTo>
                  <a:pt x="10287000" y="18310194"/>
                </a:lnTo>
                <a:lnTo>
                  <a:pt x="0" y="18310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98116" y="9101584"/>
            <a:ext cx="4090158" cy="2104572"/>
          </a:xfrm>
          <a:custGeom>
            <a:avLst/>
            <a:gdLst/>
            <a:ahLst/>
            <a:cxnLst/>
            <a:rect r="r" b="b" t="t" l="l"/>
            <a:pathLst>
              <a:path h="2104572" w="4090158">
                <a:moveTo>
                  <a:pt x="0" y="0"/>
                </a:moveTo>
                <a:lnTo>
                  <a:pt x="4090158" y="0"/>
                </a:lnTo>
                <a:lnTo>
                  <a:pt x="4090158" y="2104572"/>
                </a:lnTo>
                <a:lnTo>
                  <a:pt x="0" y="2104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67566">
            <a:off x="16497194" y="4902490"/>
            <a:ext cx="1706095" cy="1884242"/>
          </a:xfrm>
          <a:custGeom>
            <a:avLst/>
            <a:gdLst/>
            <a:ahLst/>
            <a:cxnLst/>
            <a:rect r="r" b="b" t="t" l="l"/>
            <a:pathLst>
              <a:path h="1884242" w="1706095">
                <a:moveTo>
                  <a:pt x="0" y="0"/>
                </a:moveTo>
                <a:lnTo>
                  <a:pt x="1706095" y="0"/>
                </a:lnTo>
                <a:lnTo>
                  <a:pt x="1706095" y="1884241"/>
                </a:lnTo>
                <a:lnTo>
                  <a:pt x="0" y="1884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905537">
            <a:off x="77359" y="2630478"/>
            <a:ext cx="1606331" cy="2984737"/>
          </a:xfrm>
          <a:custGeom>
            <a:avLst/>
            <a:gdLst/>
            <a:ahLst/>
            <a:cxnLst/>
            <a:rect r="r" b="b" t="t" l="l"/>
            <a:pathLst>
              <a:path h="2984737" w="1606331">
                <a:moveTo>
                  <a:pt x="0" y="0"/>
                </a:moveTo>
                <a:lnTo>
                  <a:pt x="1606331" y="0"/>
                </a:lnTo>
                <a:lnTo>
                  <a:pt x="1606331" y="2984736"/>
                </a:lnTo>
                <a:lnTo>
                  <a:pt x="0" y="2984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97878">
            <a:off x="12161547" y="-282370"/>
            <a:ext cx="1094900" cy="1830380"/>
          </a:xfrm>
          <a:custGeom>
            <a:avLst/>
            <a:gdLst/>
            <a:ahLst/>
            <a:cxnLst/>
            <a:rect r="r" b="b" t="t" l="l"/>
            <a:pathLst>
              <a:path h="1830380" w="1094900">
                <a:moveTo>
                  <a:pt x="0" y="0"/>
                </a:moveTo>
                <a:lnTo>
                  <a:pt x="1094900" y="0"/>
                </a:lnTo>
                <a:lnTo>
                  <a:pt x="1094900" y="1830380"/>
                </a:lnTo>
                <a:lnTo>
                  <a:pt x="0" y="1830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21640">
            <a:off x="1413270" y="7954378"/>
            <a:ext cx="846950" cy="1415874"/>
          </a:xfrm>
          <a:custGeom>
            <a:avLst/>
            <a:gdLst/>
            <a:ahLst/>
            <a:cxnLst/>
            <a:rect r="r" b="b" t="t" l="l"/>
            <a:pathLst>
              <a:path h="1415874" w="846950">
                <a:moveTo>
                  <a:pt x="0" y="0"/>
                </a:moveTo>
                <a:lnTo>
                  <a:pt x="846951" y="0"/>
                </a:lnTo>
                <a:lnTo>
                  <a:pt x="846951" y="1415875"/>
                </a:lnTo>
                <a:lnTo>
                  <a:pt x="0" y="141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57339" y="752808"/>
            <a:ext cx="1317332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FFF503"/>
                </a:solidFill>
                <a:latin typeface="Norwester"/>
                <a:ea typeface="Norwester"/>
                <a:cs typeface="Norwester"/>
                <a:sym typeface="Norwester"/>
              </a:rPr>
              <a:t>Weaknesses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42547" y="2686383"/>
            <a:ext cx="7083783" cy="1729863"/>
            <a:chOff x="0" y="0"/>
            <a:chExt cx="1107556" cy="2704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Limited </a:t>
              </a: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Endpoint Threat Detection and Response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61670" y="2686383"/>
            <a:ext cx="7083783" cy="2059889"/>
            <a:chOff x="0" y="0"/>
            <a:chExt cx="1107556" cy="322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556" cy="322065"/>
            </a:xfrm>
            <a:custGeom>
              <a:avLst/>
              <a:gdLst/>
              <a:ahLst/>
              <a:cxnLst/>
              <a:rect r="r" b="b" t="t" l="l"/>
              <a:pathLst>
                <a:path h="322065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22065"/>
                  </a:lnTo>
                  <a:lnTo>
                    <a:pt x="0" y="322065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7556" cy="37921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High Risk of Data Leakage and Data Exposure Due to weak passwords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36618" y="8256796"/>
            <a:ext cx="7083783" cy="1729863"/>
            <a:chOff x="0" y="0"/>
            <a:chExt cx="1107556" cy="2704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Lack of Defense in Depth Strategy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2547" y="5368219"/>
            <a:ext cx="7083783" cy="1936077"/>
            <a:chOff x="0" y="0"/>
            <a:chExt cx="1107556" cy="3027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Inadequate Network Security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61670" y="5368219"/>
            <a:ext cx="7083783" cy="1936077"/>
            <a:chOff x="0" y="0"/>
            <a:chExt cx="1107556" cy="30270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Reactive Security Posture Instead of Proactive Defense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Recommendation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744913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87755" y="3627009"/>
            <a:ext cx="1455689" cy="1607689"/>
          </a:xfrm>
          <a:custGeom>
            <a:avLst/>
            <a:gdLst/>
            <a:ahLst/>
            <a:cxnLst/>
            <a:rect r="r" b="b" t="t" l="l"/>
            <a:pathLst>
              <a:path h="1607689" w="1455689">
                <a:moveTo>
                  <a:pt x="0" y="0"/>
                </a:moveTo>
                <a:lnTo>
                  <a:pt x="1455689" y="0"/>
                </a:lnTo>
                <a:lnTo>
                  <a:pt x="1455689" y="1607689"/>
                </a:lnTo>
                <a:lnTo>
                  <a:pt x="0" y="1607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31163" y="2121384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60"/>
                </a:lnTo>
                <a:lnTo>
                  <a:pt x="0" y="1988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42547" y="3627009"/>
            <a:ext cx="7083783" cy="1729863"/>
            <a:chOff x="0" y="0"/>
            <a:chExt cx="1107556" cy="270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Stre</a:t>
              </a: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ngthen Web Application Security Controls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61670" y="3627009"/>
            <a:ext cx="7083783" cy="1729863"/>
            <a:chOff x="0" y="0"/>
            <a:chExt cx="1107556" cy="270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Enhance Endpoint Threat Detection and Response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42547" y="6308844"/>
            <a:ext cx="7083783" cy="1936077"/>
            <a:chOff x="0" y="0"/>
            <a:chExt cx="1107556" cy="3027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Implement AI Driven Data Loss Prevention Controls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1670" y="6308844"/>
            <a:ext cx="7083783" cy="1936077"/>
            <a:chOff x="0" y="0"/>
            <a:chExt cx="1107556" cy="3027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7556" cy="302707"/>
            </a:xfrm>
            <a:custGeom>
              <a:avLst/>
              <a:gdLst/>
              <a:ahLst/>
              <a:cxnLst/>
              <a:rect r="r" b="b" t="t" l="l"/>
              <a:pathLst>
                <a:path h="302707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302707"/>
                  </a:lnTo>
                  <a:lnTo>
                    <a:pt x="0" y="302707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107556" cy="35985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Establish Robust Network Security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5940021" cy="124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7"/>
              </a:lnSpc>
            </a:pPr>
            <a:r>
              <a:rPr lang="en-US" sz="7201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028700" y="-92678"/>
            <a:ext cx="2057400" cy="2023733"/>
          </a:xfrm>
          <a:custGeom>
            <a:avLst/>
            <a:gdLst/>
            <a:ahLst/>
            <a:cxnLst/>
            <a:rect r="r" b="b" t="t" l="l"/>
            <a:pathLst>
              <a:path h="2023733" w="2057400">
                <a:moveTo>
                  <a:pt x="0" y="0"/>
                </a:moveTo>
                <a:lnTo>
                  <a:pt x="2057400" y="0"/>
                </a:lnTo>
                <a:lnTo>
                  <a:pt x="2057400" y="2023733"/>
                </a:lnTo>
                <a:lnTo>
                  <a:pt x="0" y="202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442031">
            <a:off x="16167678" y="7200748"/>
            <a:ext cx="1888513" cy="3383330"/>
          </a:xfrm>
          <a:custGeom>
            <a:avLst/>
            <a:gdLst/>
            <a:ahLst/>
            <a:cxnLst/>
            <a:rect r="r" b="b" t="t" l="l"/>
            <a:pathLst>
              <a:path h="3383330" w="1888513">
                <a:moveTo>
                  <a:pt x="0" y="0"/>
                </a:moveTo>
                <a:lnTo>
                  <a:pt x="1888513" y="0"/>
                </a:lnTo>
                <a:lnTo>
                  <a:pt x="1888513" y="3383330"/>
                </a:lnTo>
                <a:lnTo>
                  <a:pt x="0" y="33833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5708" y="7479441"/>
            <a:ext cx="1960745" cy="1925095"/>
          </a:xfrm>
          <a:custGeom>
            <a:avLst/>
            <a:gdLst/>
            <a:ahLst/>
            <a:cxnLst/>
            <a:rect r="r" b="b" t="t" l="l"/>
            <a:pathLst>
              <a:path h="1925095" w="1960745">
                <a:moveTo>
                  <a:pt x="0" y="0"/>
                </a:moveTo>
                <a:lnTo>
                  <a:pt x="1960745" y="0"/>
                </a:lnTo>
                <a:lnTo>
                  <a:pt x="1960745" y="1925095"/>
                </a:lnTo>
                <a:lnTo>
                  <a:pt x="0" y="1925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87755" y="3627009"/>
            <a:ext cx="1455689" cy="1607689"/>
          </a:xfrm>
          <a:custGeom>
            <a:avLst/>
            <a:gdLst/>
            <a:ahLst/>
            <a:cxnLst/>
            <a:rect r="r" b="b" t="t" l="l"/>
            <a:pathLst>
              <a:path h="1607689" w="1455689">
                <a:moveTo>
                  <a:pt x="0" y="0"/>
                </a:moveTo>
                <a:lnTo>
                  <a:pt x="1455689" y="0"/>
                </a:lnTo>
                <a:lnTo>
                  <a:pt x="1455689" y="1607689"/>
                </a:lnTo>
                <a:lnTo>
                  <a:pt x="0" y="16076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56891" y="1575042"/>
            <a:ext cx="2111830" cy="1988960"/>
          </a:xfrm>
          <a:custGeom>
            <a:avLst/>
            <a:gdLst/>
            <a:ahLst/>
            <a:cxnLst/>
            <a:rect r="r" b="b" t="t" l="l"/>
            <a:pathLst>
              <a:path h="1988960" w="2111830">
                <a:moveTo>
                  <a:pt x="0" y="0"/>
                </a:moveTo>
                <a:lnTo>
                  <a:pt x="2111830" y="0"/>
                </a:lnTo>
                <a:lnTo>
                  <a:pt x="2111830" y="1988960"/>
                </a:lnTo>
                <a:lnTo>
                  <a:pt x="0" y="1988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39518" y="3866581"/>
            <a:ext cx="6807037" cy="1662282"/>
            <a:chOff x="0" y="0"/>
            <a:chExt cx="1107556" cy="270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Growth Opportunity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40482" y="6962834"/>
            <a:ext cx="6807037" cy="1662282"/>
            <a:chOff x="0" y="0"/>
            <a:chExt cx="1107556" cy="270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Reduce Business Risk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62678" y="3866581"/>
            <a:ext cx="6807037" cy="1662282"/>
            <a:chOff x="0" y="0"/>
            <a:chExt cx="1107556" cy="270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7556" cy="270466"/>
            </a:xfrm>
            <a:custGeom>
              <a:avLst/>
              <a:gdLst/>
              <a:ahLst/>
              <a:cxnLst/>
              <a:rect r="r" b="b" t="t" l="l"/>
              <a:pathLst>
                <a:path h="270466" w="1107556">
                  <a:moveTo>
                    <a:pt x="0" y="0"/>
                  </a:moveTo>
                  <a:lnTo>
                    <a:pt x="1107556" y="0"/>
                  </a:lnTo>
                  <a:lnTo>
                    <a:pt x="1107556" y="270466"/>
                  </a:lnTo>
                  <a:lnTo>
                    <a:pt x="0" y="270466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07556" cy="32761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919"/>
                </a:lnSpc>
              </a:pPr>
              <a:r>
                <a:rPr lang="en-US" b="true" sz="2799">
                  <a:solidFill>
                    <a:srgbClr val="000000"/>
                  </a:solidFill>
                  <a:latin typeface="Fira Code Bold"/>
                  <a:ea typeface="Fira Code Bold"/>
                  <a:cs typeface="Fira Code Bold"/>
                  <a:sym typeface="Fira Code Bold"/>
                </a:rPr>
                <a:t>Enhance Security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207384" y="113157"/>
            <a:ext cx="1807019" cy="1201238"/>
          </a:xfrm>
          <a:custGeom>
            <a:avLst/>
            <a:gdLst/>
            <a:ahLst/>
            <a:cxnLst/>
            <a:rect r="r" b="b" t="t" l="l"/>
            <a:pathLst>
              <a:path h="1201238" w="1807019">
                <a:moveTo>
                  <a:pt x="0" y="0"/>
                </a:moveTo>
                <a:lnTo>
                  <a:pt x="1807019" y="0"/>
                </a:lnTo>
                <a:lnTo>
                  <a:pt x="1807019" y="1201237"/>
                </a:lnTo>
                <a:lnTo>
                  <a:pt x="0" y="120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98872" y="1028700"/>
            <a:ext cx="8090256" cy="5378094"/>
          </a:xfrm>
          <a:custGeom>
            <a:avLst/>
            <a:gdLst/>
            <a:ahLst/>
            <a:cxnLst/>
            <a:rect r="r" b="b" t="t" l="l"/>
            <a:pathLst>
              <a:path h="5378094" w="8090256">
                <a:moveTo>
                  <a:pt x="0" y="0"/>
                </a:moveTo>
                <a:lnTo>
                  <a:pt x="8090256" y="0"/>
                </a:lnTo>
                <a:lnTo>
                  <a:pt x="8090256" y="5378094"/>
                </a:lnTo>
                <a:lnTo>
                  <a:pt x="0" y="5378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73906" y="7366289"/>
            <a:ext cx="13940187" cy="124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35"/>
              </a:lnSpc>
              <a:spcBef>
                <a:spcPct val="0"/>
              </a:spcBef>
            </a:pPr>
            <a:r>
              <a:rPr lang="en-US" sz="8451">
                <a:solidFill>
                  <a:srgbClr val="00BFC3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Q&amp;A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335385">
            <a:off x="717021" y="1657209"/>
            <a:ext cx="2363501" cy="2605061"/>
          </a:xfrm>
          <a:custGeom>
            <a:avLst/>
            <a:gdLst/>
            <a:ahLst/>
            <a:cxnLst/>
            <a:rect r="r" b="b" t="t" l="l"/>
            <a:pathLst>
              <a:path h="2605061" w="2363501">
                <a:moveTo>
                  <a:pt x="0" y="0"/>
                </a:moveTo>
                <a:lnTo>
                  <a:pt x="2363501" y="0"/>
                </a:lnTo>
                <a:lnTo>
                  <a:pt x="2363501" y="2605061"/>
                </a:lnTo>
                <a:lnTo>
                  <a:pt x="0" y="26050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593451">
            <a:off x="11534890" y="6274021"/>
            <a:ext cx="1960745" cy="1008892"/>
          </a:xfrm>
          <a:custGeom>
            <a:avLst/>
            <a:gdLst/>
            <a:ahLst/>
            <a:cxnLst/>
            <a:rect r="r" b="b" t="t" l="l"/>
            <a:pathLst>
              <a:path h="1008892" w="1960745">
                <a:moveTo>
                  <a:pt x="0" y="0"/>
                </a:moveTo>
                <a:lnTo>
                  <a:pt x="1960745" y="0"/>
                </a:lnTo>
                <a:lnTo>
                  <a:pt x="1960745" y="1008893"/>
                </a:lnTo>
                <a:lnTo>
                  <a:pt x="0" y="1008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73816">
            <a:off x="14670194" y="1587650"/>
            <a:ext cx="1447730" cy="1402982"/>
          </a:xfrm>
          <a:custGeom>
            <a:avLst/>
            <a:gdLst/>
            <a:ahLst/>
            <a:cxnLst/>
            <a:rect r="r" b="b" t="t" l="l"/>
            <a:pathLst>
              <a:path h="1402982" w="1447730">
                <a:moveTo>
                  <a:pt x="1447729" y="0"/>
                </a:moveTo>
                <a:lnTo>
                  <a:pt x="0" y="0"/>
                </a:lnTo>
                <a:lnTo>
                  <a:pt x="0" y="1402982"/>
                </a:lnTo>
                <a:lnTo>
                  <a:pt x="1447729" y="1402982"/>
                </a:lnTo>
                <a:lnTo>
                  <a:pt x="144772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4458" y="232445"/>
            <a:ext cx="128004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Team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DAG98hpEzVU</dc:identifier>
  <dcterms:modified xsi:type="dcterms:W3CDTF">2011-08-01T06:04:30Z</dcterms:modified>
  <cp:revision>1</cp:revision>
  <dc:title>Purple Team Engagement Pitch</dc:title>
</cp:coreProperties>
</file>